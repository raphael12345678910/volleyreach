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ae8f9995ae4709" /><Relationship Type="http://schemas.openxmlformats.org/officeDocument/2006/relationships/extended-properties" Target="/docProps/app.xml" Id="R1ec11a96e8e54b7d" /><Relationship Type="http://schemas.openxmlformats.org/officeDocument/2006/relationships/officeDocument" Target="/ppt/presentation.xml" Id="R375c65769c564c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600dd02b254314"/>
  </p:sldMasterIdLst>
  <p:notesMasterIdLst>
    <p:notesMasterId xmlns:r="http://schemas.openxmlformats.org/officeDocument/2006/relationships" r:id="Rbbe394deeaae4c21"/>
  </p:notesMasterIdLst>
  <p:sldIdLst>
    <p:sldId xmlns:r="http://schemas.openxmlformats.org/officeDocument/2006/relationships" id="256" r:id="R071aac7a28fa4f19"/>
    <p:sldId xmlns:r="http://schemas.openxmlformats.org/officeDocument/2006/relationships" id="257" r:id="Rcaad77ca85df4d50"/>
    <p:sldId xmlns:r="http://schemas.openxmlformats.org/officeDocument/2006/relationships" id="258" r:id="R2e5ce9ca8a774da7"/>
    <p:sldId xmlns:r="http://schemas.openxmlformats.org/officeDocument/2006/relationships" id="259" r:id="R955c479621064d82"/>
    <p:sldId xmlns:r="http://schemas.openxmlformats.org/officeDocument/2006/relationships" id="260" r:id="Rbed873a999424bf3"/>
    <p:sldId xmlns:r="http://schemas.openxmlformats.org/officeDocument/2006/relationships" id="261" r:id="Rea15501fcf6c4aae"/>
    <p:sldId xmlns:r="http://schemas.openxmlformats.org/officeDocument/2006/relationships" id="262" r:id="Ra1559bcf2c0745c7"/>
    <p:sldId xmlns:r="http://schemas.openxmlformats.org/officeDocument/2006/relationships" id="263" r:id="Ra66162f446514958"/>
    <p:sldId xmlns:r="http://schemas.openxmlformats.org/officeDocument/2006/relationships" id="264" r:id="R0570271ff3214fcd"/>
    <p:sldId xmlns:r="http://schemas.openxmlformats.org/officeDocument/2006/relationships" id="265" r:id="R2dd84274195c45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ac9411d2954792" /><Relationship Type="http://schemas.openxmlformats.org/officeDocument/2006/relationships/slideMaster" Target="/ppt/slideMasters/slideMaster1.xml" Id="Re1600dd02b254314" /><Relationship Type="http://schemas.openxmlformats.org/officeDocument/2006/relationships/notesMaster" Target="/ppt/notesMasters/notesMaster1.xml" Id="Rbbe394deeaae4c21" /><Relationship Type="http://schemas.openxmlformats.org/officeDocument/2006/relationships/presProps" Target="/ppt/presProps.xml" Id="R138399d534f44ea1" /><Relationship Type="http://schemas.openxmlformats.org/officeDocument/2006/relationships/tableStyles" Target="/ppt/tableStyles.xml" Id="R4a713630cdfe4558" /><Relationship Type="http://schemas.openxmlformats.org/officeDocument/2006/relationships/slide" Target="/ppt/slides/slide1.xml" Id="R071aac7a28fa4f19" /><Relationship Type="http://schemas.openxmlformats.org/officeDocument/2006/relationships/slide" Target="/ppt/slides/slide2.xml" Id="Rcaad77ca85df4d50" /><Relationship Type="http://schemas.openxmlformats.org/officeDocument/2006/relationships/slide" Target="/ppt/slides/slide3.xml" Id="R2e5ce9ca8a774da7" /><Relationship Type="http://schemas.openxmlformats.org/officeDocument/2006/relationships/slide" Target="/ppt/slides/slide4.xml" Id="R955c479621064d82" /><Relationship Type="http://schemas.openxmlformats.org/officeDocument/2006/relationships/slide" Target="/ppt/slides/slide5.xml" Id="Rbed873a999424bf3" /><Relationship Type="http://schemas.openxmlformats.org/officeDocument/2006/relationships/slide" Target="/ppt/slides/slide6.xml" Id="Rea15501fcf6c4aae" /><Relationship Type="http://schemas.openxmlformats.org/officeDocument/2006/relationships/slide" Target="/ppt/slides/slide7.xml" Id="Ra1559bcf2c0745c7" /><Relationship Type="http://schemas.openxmlformats.org/officeDocument/2006/relationships/slide" Target="/ppt/slides/slide8.xml" Id="Ra66162f446514958" /><Relationship Type="http://schemas.openxmlformats.org/officeDocument/2006/relationships/slide" Target="/ppt/slides/slide9.xml" Id="R0570271ff3214fcd" /><Relationship Type="http://schemas.openxmlformats.org/officeDocument/2006/relationships/slide" Target="/ppt/slides/slide10.xml" Id="R2dd84274195c45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ce7e338c0942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aebaf516164889" /><Relationship Type="http://schemas.openxmlformats.org/officeDocument/2006/relationships/notesMaster" Target="/ppt/notesMasters/notesMaster1.xml" Id="Ra26529e0223047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77e7d422704203" /><Relationship Type="http://schemas.openxmlformats.org/officeDocument/2006/relationships/notesMaster" Target="/ppt/notesMasters/notesMaster1.xml" Id="Rab7a56f1e8a149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336f41cf4a48d0" /><Relationship Type="http://schemas.openxmlformats.org/officeDocument/2006/relationships/notesMaster" Target="/ppt/notesMasters/notesMaster1.xml" Id="Rffd83e2f4b994f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c653b6fe824351" /><Relationship Type="http://schemas.openxmlformats.org/officeDocument/2006/relationships/notesMaster" Target="/ppt/notesMasters/notesMaster1.xml" Id="R124bce7176364d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6f16c083d24e2c" /><Relationship Type="http://schemas.openxmlformats.org/officeDocument/2006/relationships/notesMaster" Target="/ppt/notesMasters/notesMaster1.xml" Id="Rdde1ac9022b047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a5a6ef4da340cd" /><Relationship Type="http://schemas.openxmlformats.org/officeDocument/2006/relationships/notesMaster" Target="/ppt/notesMasters/notesMaster1.xml" Id="R03d954df4d504f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25bc73b13f4790" /><Relationship Type="http://schemas.openxmlformats.org/officeDocument/2006/relationships/notesMaster" Target="/ppt/notesMasters/notesMaster1.xml" Id="Rba8b993bad5f48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dee3992eb04fe8" /><Relationship Type="http://schemas.openxmlformats.org/officeDocument/2006/relationships/notesMaster" Target="/ppt/notesMasters/notesMaster1.xml" Id="Rd04ce6ed25db42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10b50981f04041" /><Relationship Type="http://schemas.openxmlformats.org/officeDocument/2006/relationships/notesMaster" Target="/ppt/notesMasters/notesMaster1.xml" Id="R5657e44c1a4341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1c50df18c04035" /><Relationship Type="http://schemas.openxmlformats.org/officeDocument/2006/relationships/notesMaster" Target="/ppt/notesMasters/notesMaster1.xml" Id="Rf4e139b42e7542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VolleyReach prototype and project README. Background image created for this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VolleyReach prototype and project README. Directory figures reflect the August 29, 2026 data import.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VolleyReach prototype and project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VolleyReach prototype and project README. Logo shown from the current product interface.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VolleyReach prototype and project README. Hex values come from the current product CSS variables.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VolleyReach prototype and project README. Typography names and layout values come from the current product CSS.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VolleyReach prototype and project README. Photography was created specifically for the VolleyReach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VolleyReach prototype and project README. The sample post demonstrates the approved voice and visual system. Arthur can use these pillars for the marketing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VolleyReach prototype and project README. Proposed weekly publishing schedule. Every post should use one CTA: complete a profile, build a school list, or join the pilot.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VolleyReach prototype and project README. These are proposed pilot targets, not current results. Prioritize coach introductions, team group chats, club accounts, and athlete reposts before paid promotion.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36fdaa45745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a97d1c2d2c4859" /><Relationship Type="http://schemas.openxmlformats.org/officeDocument/2006/relationships/slideLayout" Target="/ppt/slideLayouts/slideLayout1.xml" Id="R869b9204835b4d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9b9204835b4d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df8f63b534056" /><Relationship Type="http://schemas.openxmlformats.org/officeDocument/2006/relationships/image" Target="/ppt/media/image.jpeg" Id="R8c963bb51c334092" /><Relationship Type="http://schemas.openxmlformats.org/officeDocument/2006/relationships/notesSlide" Target="/ppt/notesSlides/notesSlide1.xml" Id="R27a3bbc334d345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8aea6ee2f414a" /><Relationship Type="http://schemas.openxmlformats.org/officeDocument/2006/relationships/image" Target="/ppt/media/image2.jpeg" Id="R7a1e30009029438c" /><Relationship Type="http://schemas.openxmlformats.org/officeDocument/2006/relationships/notesSlide" Target="/ppt/notesSlides/notesSlide2.xml" Id="R8d74e617bfbe4d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4fc2df22c40b3" /><Relationship Type="http://schemas.openxmlformats.org/officeDocument/2006/relationships/image" Target="/ppt/media/image3.jpeg" Id="Rfcd4de4041004472" /><Relationship Type="http://schemas.openxmlformats.org/officeDocument/2006/relationships/notesSlide" Target="/ppt/notesSlides/notesSlide3.xml" Id="Rd57ccd72c5144d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61257ff474569" /><Relationship Type="http://schemas.openxmlformats.org/officeDocument/2006/relationships/image" Target="/ppt/media/image4.jpeg" Id="Re5e2eb9224ac4149" /><Relationship Type="http://schemas.openxmlformats.org/officeDocument/2006/relationships/notesSlide" Target="/ppt/notesSlides/notesSlide4.xml" Id="Rc16e2543f49941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f1be3b3e24d86" /><Relationship Type="http://schemas.openxmlformats.org/officeDocument/2006/relationships/notesSlide" Target="/ppt/notesSlides/notesSlide5.xml" Id="Rfe0c09d18e5c4d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ffaa847974815" /><Relationship Type="http://schemas.openxmlformats.org/officeDocument/2006/relationships/image" Target="/ppt/media/image5.jpeg" Id="Rab4f5bc426334149" /><Relationship Type="http://schemas.openxmlformats.org/officeDocument/2006/relationships/notesSlide" Target="/ppt/notesSlides/notesSlide6.xml" Id="R69062d8aee4a4c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4f12b1a1b4911" /><Relationship Type="http://schemas.openxmlformats.org/officeDocument/2006/relationships/image" Target="/ppt/media/image6.jpeg" Id="Rbb2f16c6dc924f0b" /><Relationship Type="http://schemas.openxmlformats.org/officeDocument/2006/relationships/notesSlide" Target="/ppt/notesSlides/notesSlide7.xml" Id="Rb1dc02f7fbbe40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2f0c88e3f4033" /><Relationship Type="http://schemas.openxmlformats.org/officeDocument/2006/relationships/image" Target="/ppt/media/image7.jpeg" Id="R7aa87e76e164468d" /><Relationship Type="http://schemas.openxmlformats.org/officeDocument/2006/relationships/notesSlide" Target="/ppt/notesSlides/notesSlide8.xml" Id="R09ca4e00f69440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f6ca951614df1" /><Relationship Type="http://schemas.openxmlformats.org/officeDocument/2006/relationships/notesSlide" Target="/ppt/notesSlides/notesSlide9.xml" Id="Rfcfac0f2aeee40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890387a8c4254" /><Relationship Type="http://schemas.openxmlformats.org/officeDocument/2006/relationships/notesSlide" Target="/ppt/notesSlides/notesSlide10.xml" Id="R4b42994d6d9f46d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63bb51c334092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048DC-B9BC-4EA4-92FB-5F55C04F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15">
              <a:alpha val="7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6250F-4678-448F-AE26-863299B4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B9D8C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9D8CA"/>
                </a:solidFill>
                <a:latin typeface="Arial"/>
                <a:ea typeface="Arial"/>
                <a:cs typeface="Arial"/>
              </a:rPr>
              <a:t>BRAND AND MEDIA KIT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31FE2-3B21-4277-807E-02094A69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81100"/>
            <a:ext cx="7810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66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F2D9D-6480-4808-A60A-629C282A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781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VolleyReach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EEC1D-8F33-400C-9642-CA1C71D6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FFFFFF">
                    <a:alpha val="88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>
                    <a:alpha val="88000"/>
                  </a:srgbClr>
                </a:solidFill>
                <a:latin typeface="Arial"/>
                <a:ea typeface="Arial"/>
                <a:cs typeface="Arial"/>
              </a:rPr>
              <a:t>A recruiting workspace for boys volleyball athletes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5AB2E-93FC-41EE-A37A-6119A08E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8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FFFFFF">
                    <a:alpha val="66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>
                    <a:alpha val="66000"/>
                  </a:srgbClr>
                </a:solidFill>
                <a:latin typeface="Arial"/>
                <a:ea typeface="Arial"/>
                <a:cs typeface="Arial"/>
              </a:rPr>
              <a:t>Raphael Ferrand 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9693443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7A31F-6895-4AB3-9DB3-4D15D9FA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Brand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46CFF-490F-43B8-ACA0-976CDFC0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POSITIONING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45266-3A23-4AE4-85A5-807B8CA6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1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9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VolleyReach helps boys volleyball athletes organize the recruiting work that paid services often handle.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796A9-71C6-4F28-B9B3-A4561AD7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The product serves high school players first. School and club coaches can use the same workflow to help athletes prepare complete, credible outreach.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e30009029438c"/>
          <a:srcRect xmlns:a="http://schemas.openxmlformats.org/drawingml/2006/main" l="0" t="1312" r="0" b="13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1066800"/>
            <a:ext cx="5581650" cy="3143250"/>
          </a:xfrm>
          <a:prstGeom xmlns:a="http://schemas.openxmlformats.org/drawingml/2006/main" prst="roundRect">
            <a:avLst>
              <a:gd name="adj" fmla="val 181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488DB-322D-4DA5-9A6E-EE1585DC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12372E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2372E"/>
                </a:solidFill>
                <a:latin typeface="Arial"/>
                <a:ea typeface="Arial"/>
                <a:cs typeface="Arial"/>
              </a:rPr>
              <a:t>293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3A8D6-34C5-4F67-B8EC-9EE4DD4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24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men's programs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18521-38B8-4BA1-9CDA-E95F31D1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529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722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65141-9C95-4B74-B991-58FD40B7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24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grouped coach contacts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9DCE8-645B-4B7A-BEE5-4029DEC5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F4CF2-735B-4E6D-BC9C-7462B277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VOLLEYREACH BRAND AND MEDIA KIT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A080E-A30A-43BB-950D-0B9ADDB7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01934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6B4A6E-2C74-4689-8B33-97528CA7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Product experience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4de4041004472"/>
          <a:srcRect xmlns:a="http://schemas.openxmlformats.org/drawingml/2006/main" l="0" t="1336" r="0" b="13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200150"/>
            <a:ext cx="6667500" cy="3752850"/>
          </a:xfrm>
          <a:prstGeom xmlns:a="http://schemas.openxmlformats.org/drawingml/2006/main" prst="roundRect">
            <a:avLst>
              <a:gd name="adj" fmla="val 1523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022AF-1E44-4F87-A65D-3E50D889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811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C43C4-3207-4AC1-AC94-267F27E2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525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Complete the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C66DE-7D6E-4116-890C-40EA5B1D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Academic, athletic, film, and contact facts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B516B-1036-4658-80D5-49B52186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E7E49-31D5-48CC-89CB-3CB182E8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907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Find programs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F7D74-A4A2-47B0-BFB2-167AB42D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Division, region, contact availability, and list size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E6941-C42A-42DD-B65B-AE6D4BE0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8EAB8-7975-476E-B29F-EEE83CA9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289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Research the school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5909B-7FEB-4F6C-B01F-884897EB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813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A real reason for contacting that program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1022C-6EF1-4273-958E-8DF9EE11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FC8F5-6238-4893-BB75-1F9F7471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67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Build the email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D8812-19D4-45EC-AAD9-AC2B234E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195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Profile facts become a personal coach message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E6A78-A4E3-4E23-96DB-F6609496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8F5B8-C643-4723-8359-33CB2B59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053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Track follow 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D89D2-49C7-45B6-9CDC-D6D5A242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57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Sent dates, replies, status, and next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769C9B-82C3-4FF9-835C-4AEF6C3E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237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72E"/>
                </a:solidFill>
                <a:latin typeface="Arial"/>
                <a:ea typeface="Arial"/>
                <a:cs typeface="Arial"/>
              </a:rPr>
              <a:t>Recruiting support stays organized without claiming roster openings, admissions odds, or guaranteed outcomes.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6D97BF-758B-46D5-A8DB-F98DECD4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ECB620-677B-42EC-9EE2-BE53F820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VOLLEYREACH BRAND AND MEDIA KIT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F35AEE-4BCF-40C0-95D4-63D839F3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12150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FEF11-E826-4FFF-858B-60898170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Logo system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2eb9224ac4149"/>
          <a:stretch xmlns:a="http://schemas.openxmlformats.org/drawingml/2006/main"/>
        </p:blipFill>
        <p:spPr>
          <a:xfrm xmlns:a="http://schemas.openxmlformats.org/drawingml/2006/main">
            <a:off x="666750" y="1352550"/>
            <a:ext cx="3067050" cy="9334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5FFA9-DC39-481B-AB73-67503FC3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457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75" b="0">
                <a:solidFill>
                  <a:srgbClr val="FFFFFF">
                    <a:alpha val="82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>
                    <a:alpha val="82000"/>
                  </a:srgbClr>
                </a:solidFill>
                <a:latin typeface="Arial"/>
                <a:ea typeface="Arial"/>
                <a:cs typeface="Arial"/>
              </a:rPr>
              <a:t>The name connects volleyball with the two actions the product supports: reaching the right programs and reaching coaches with complete information.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1218C-92B7-4F65-8293-B4846D9E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295400"/>
            <a:ext cx="9525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772CE-11F0-42FE-96E9-97845714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381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3C3A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3C3AF"/>
                </a:solidFill>
                <a:latin typeface="Arial"/>
                <a:ea typeface="Arial"/>
                <a:cs typeface="Arial"/>
              </a:rPr>
              <a:t>PRIMARY 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55F41-1DE9-444D-B160-3CA38E5A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33550"/>
            <a:ext cx="428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the full lockup on covers, navigation, school materials, and social profiles.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E538F-4609-4E33-8327-8FA95BCB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81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3C3A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3C3AF"/>
                </a:solidFill>
                <a:latin typeface="Arial"/>
                <a:ea typeface="Arial"/>
                <a:cs typeface="Arial"/>
              </a:rPr>
              <a:t>SPACING AND SIZE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7EDE7-D524-460A-A6D4-EDC61247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33725"/>
            <a:ext cx="4476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Leave at least one icon width around the mark. Keep the icon at 34 px or larger and the full lockup at 140 px or larger for digital 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D3509-01DF-4DB4-A11C-C2866E88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95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3C3A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3C3AF"/>
                </a:solidFill>
                <a:latin typeface="Arial"/>
                <a:ea typeface="Arial"/>
                <a:cs typeface="Arial"/>
              </a:rPr>
              <a:t>GUARDRAILS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D3FA1-47CC-4D8F-A927-41B94C34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48225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 not stretch the logo, recolor the ball separately, add effects, or place it over a busy image without strong contrast.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10C21-F8D3-4BF3-8F76-DC0CF63C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A738C-2D46-413C-93E9-02C525B2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rPr>
              <a:t>VOLLEYREACH BRAND AND MEDIA KIT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C1442-56DA-4C17-A613-B62A79CB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301501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FC737E-8537-4330-AE37-5C5D249D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Color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67E0D-3C96-4973-B653-EF16B990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Forest anchors the product. Coral marks action. Blue supports guidance and measurement. Warm paper keeps dense recruiting work readable.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92BE6-E205-446D-B7FA-7C1CB23F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000250" cy="27241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23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CAD4C-2A9D-4FD6-8D52-6ED13FA6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C4E6F-CAC3-4B6B-95D2-5C1A9826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#12372E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5D7B5-1F09-4FE0-A4E9-79CB5105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Navigation and primary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46C3D-7101-4C4F-9718-6582C95A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09750"/>
            <a:ext cx="2000250" cy="27241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66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739D1-A36D-4056-80F5-D530EA9C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574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07DD1-EDDE-4409-B40E-FDDAD524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527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#E66449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903CC-CD40-44F4-B3E9-75401DFA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3855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Emphasis and progress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29930-95E3-48CE-9F10-EA0C4DD0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2000250" cy="27241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668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9D9AA-4146-4BDE-AE47-0E0D7ADA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574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Mist blue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69292-FF61-4CB7-97C7-2BE30663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527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#668FA8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F2AF2-2897-43AD-8646-5656B0AD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3855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Guidance and measurements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2052E-4C5B-41BF-A681-FB52F74B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09750"/>
            <a:ext cx="2000250" cy="27241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5F1"/>
          </a:solidFill>
          <a:ln xmlns:a="http://schemas.openxmlformats.org/drawingml/2006/main" w="9525">
            <a:solidFill>
              <a:srgbClr val="DCE2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5DEF9-D31A-4A33-AE74-8C33BDCF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574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Warm paper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A99121-68DD-47D1-A172-5F964719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527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#F4F5F1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A010E-EDEA-42B0-B3E6-27FADFF8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3855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01D"/>
                </a:solidFill>
                <a:latin typeface="Arial"/>
                <a:ea typeface="Arial"/>
                <a:cs typeface="Arial"/>
              </a:rPr>
              <a:t>Main application background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FE633F-9BE6-490C-BC2B-9482A240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09750"/>
            <a:ext cx="2000250" cy="27241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72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AD1FA-F94D-4036-96B1-59ED238E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574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7BC26B-7977-4D23-96A0-A24FABDA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527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#17201D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BDF73-51AD-4596-B672-38D45C92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38550"/>
            <a:ext cx="165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Headings and body type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DEEFD-1387-4339-B227-2F14EC0F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237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72E"/>
                </a:solidFill>
                <a:latin typeface="Arial"/>
                <a:ea typeface="Arial"/>
                <a:cs typeface="Arial"/>
              </a:rPr>
              <a:t>Keep white and warm paper dominant. Avoid gradients, neon yellow and black combinations, and one-color screens.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0970DF-C7B8-45B4-9F19-05031BCC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576C3B-4F88-418E-A412-4087B1B7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VOLLEYREACH BRAND AND MEDIA KIT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0ABB34-48DE-483C-A2A8-00AD7676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609558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BDD002-CCA7-4539-9A24-F99ACB19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Typography and layout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FCAD0-E55A-4F63-B69E-666474E3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PRIMARY 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1424C-8BE3-4E60-A1F1-7FE93868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Instrument Sans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1BB86-F69D-4F35-B616-FDB31EC0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Headings use 600 to 700 weight. Body copy uses 400 to 500. Arial is the fallback.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0418D-C139-43B1-9AE0-182FB0AD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68F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8FA8"/>
                </a:solidFill>
                <a:latin typeface="Arial"/>
                <a:ea typeface="Arial"/>
                <a:cs typeface="Arial"/>
              </a:rPr>
              <a:t>UTILITY 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0AAD2-965E-481B-B78A-3B032B62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DM Mono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2E6D5-8964-421E-8A12-8E11F8DF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Small labels, dates, percentages, and status values. System monospace is the fallback.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6047A-56BE-4970-9EB1-2C8EE9A8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237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72E"/>
                </a:solidFill>
                <a:latin typeface="Arial"/>
                <a:ea typeface="Arial"/>
                <a:cs typeface="Arial"/>
              </a:rPr>
              <a:t>Letter spacing stays at 0. Tool screens use compact headings and stable dimensions so controls do not shift.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f5bc426334149"/>
          <a:srcRect xmlns:a="http://schemas.openxmlformats.org/drawingml/2006/main" l="0" t="5698" r="0" b="56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6450" y="1238250"/>
            <a:ext cx="5695950" cy="3200400"/>
          </a:xfrm>
          <a:prstGeom xmlns:a="http://schemas.openxmlformats.org/drawingml/2006/main" prst="roundRect">
            <a:avLst>
              <a:gd name="adj" fmla="val 1786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1AAF5-216F-48A6-B7E8-32783DE4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7A359-B7BF-4961-956F-E008E594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291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236 px desktop navigation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49679-BDA5-4E5D-939B-621AC7AE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8577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EC880-E610-4F8C-B865-08AA6335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8291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34 px page padding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ED889C-5DD5-44B7-9A5F-6ABBD4F0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816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61742-2A00-4ED4-8F89-EF3C03E0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353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5 to 7 px control corners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B20725-DC97-43DF-9B50-DA5A9E75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38162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A2FD96-1287-42E1-96FD-176B8DC3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353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Responsive mobile navigation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03F57A-DC83-48BB-A1A8-71158E3B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C13209-5B5E-4890-B2F6-9257C8F7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VOLLEYREACH BRAND AND MEDIA KIT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030AF0-DC4E-48A0-B5E7-271DC59D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25041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5EE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907BD-1824-4190-9ACE-D3F3FCFB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Photography and interface style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f16c6dc924f0b"/>
          <a:srcRect xmlns:a="http://schemas.openxmlformats.org/drawingml/2006/main" l="9426" t="0" r="94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257300"/>
            <a:ext cx="5905500" cy="4095750"/>
          </a:xfrm>
          <a:prstGeom xmlns:a="http://schemas.openxmlformats.org/drawingml/2006/main" prst="roundRect">
            <a:avLst>
              <a:gd name="adj" fmla="val 1395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31906-BEAB-40C6-A954-8C990384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333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PHOTOGRAPHY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05B0C-EAD9-4E70-8F1C-44ABAD80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9545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1D"/>
                </a:solidFill>
                <a:latin typeface="Arial"/>
                <a:ea typeface="Arial"/>
                <a:cs typeface="Arial"/>
              </a:rPr>
              <a:t>Show real volleyball settings with the athlete, court, and net easy to understand. Use natural gym color and practical camera angles.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E944B-68AB-4AB3-B638-37EC1038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05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68F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8FA8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391D8-0C55-4050-8157-426E62E8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6710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01D"/>
                </a:solidFill>
                <a:latin typeface="Arial"/>
                <a:ea typeface="Arial"/>
                <a:cs typeface="Arial"/>
              </a:rPr>
              <a:t>Keep the workspace quiet and useful: stable left navigation, familiar icons, short motion, restrained borders, and clear next 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C200E-73A8-482C-B90A-1435D832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57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AVOID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A0B2F-97DA-4C39-A445-A6759B31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19700"/>
            <a:ext cx="4095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Generic AI athletes, black and yellow esports styling, heavy gradients, decorative blobs, and images that hide the product.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BC7B0-D812-480B-8590-D9B8F087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1B869-CFD9-4672-9D5B-97FAA1EE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VOLLEYREACH BRAND AND MEDIA KIT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C7669-1F27-4454-85B4-BAD5B2EA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546631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5E5546-F396-4CEB-89D3-4FA53DB8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Voice and media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6D46E-90C1-436D-B809-A7E8F65D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3C3A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3C3AF"/>
                </a:solidFill>
                <a:latin typeface="Arial"/>
                <a:ea typeface="Arial"/>
                <a:cs typeface="Arial"/>
              </a:rPr>
              <a:t>VOICE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31D49-0D26-4D02-B014-DAEE5A55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Direct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8186C-69BE-4F67-8B5E-72F4247D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FFFFF">
                    <a:alpha val="72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>
                    <a:alpha val="72000"/>
                  </a:srgbClr>
                </a:solidFill>
                <a:latin typeface="Arial"/>
                <a:ea typeface="Arial"/>
                <a:cs typeface="Arial"/>
              </a:rPr>
              <a:t>Say what the athlete should do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C1F1B-4829-4341-9CFE-29D83DE8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Specific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7ED8A-2385-42C9-9D6D-0A7BD1D0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FFFFF">
                    <a:alpha val="72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>
                    <a:alpha val="72000"/>
                  </a:srgbClr>
                </a:solidFill>
                <a:latin typeface="Arial"/>
                <a:ea typeface="Arial"/>
                <a:cs typeface="Arial"/>
              </a:rPr>
              <a:t>Use volleyball and recruiting facts, not generic motivation.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96580-F1CB-428A-A1EF-A9E78F15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Honest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BEA99-EF8A-4C6B-94B0-3A019726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FFFFFF">
                    <a:alpha val="72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>
                    <a:alpha val="72000"/>
                  </a:srgbClr>
                </a:solidFill>
                <a:latin typeface="Arial"/>
                <a:ea typeface="Arial"/>
                <a:cs typeface="Arial"/>
              </a:rPr>
              <a:t>Label estimates and never promise admission or recruitment.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19BB8-BE48-49B3-BF76-1FA5B7A2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CONTENT PILLARS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492DD-3881-40EB-9964-D4AAFE2A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Recruiting education  •  Product workflows  •  Volleyball measurements  •  Pilot results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D42D3-47C1-452F-A4F1-321985A4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990600"/>
            <a:ext cx="3714750" cy="47625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87e76e164468d"/>
          <a:srcRect xmlns:a="http://schemas.openxmlformats.org/drawingml/2006/main" l="0" t="15915" r="0" b="159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1162050"/>
            <a:ext cx="3371850" cy="238125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C811AB-B6B3-441E-8D8E-F92453C7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48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RECRUITING TOOL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13BF9D-F578-43E5-A8A5-533205C5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005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Use a straight-on net clip to estimate reach, then verify the result before sharing 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A9F6A-EFFD-4C78-9C76-7991AE18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72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@VolleyReach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FEB41-53BB-41AC-B5DF-52F22580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1D5BF5-86FC-4305-AE78-6D34760A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rPr>
              <a:t>VOLLEYREACH BRAND AND MEDIA KIT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313B3-491F-4A34-B9CD-3A5AF709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799671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D3F9FC-848B-4BA9-BAB9-A4C72221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Content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23C96-6356-496A-88A4-E3B67D85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Teach one useful recruiting action, show it inside VolleyReach, then give the athlete one clear next step.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2144E-5561-4BE7-ABF5-4146AD00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476500" cy="314325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D2892-6E68-4489-8493-4ADC2218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2336C-AE31-42EA-A3BC-8BD275DD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237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372E"/>
                </a:solidFill>
                <a:latin typeface="Arial"/>
                <a:ea typeface="Arial"/>
                <a:cs typeface="Arial"/>
              </a:rPr>
              <a:t>MON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95D81-249C-48E3-B4C3-447BE0A2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Recruiting checklist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6B15D-3DE5-4B79-92E7-7B9E44C3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038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A five-step carousel that answers one real question.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E95AB-FF2C-481D-9965-EED38C0E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14287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237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D5C10-EFE0-4C5E-AAE0-74D8A7EA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243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+ SHARE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D867D-AD77-4C4E-A0E9-E7A54E6E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09750"/>
            <a:ext cx="2476500" cy="314325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39984-5544-4A10-BCA1-6DA1A791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0975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488C8-5662-437D-A484-93C1D927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14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68F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8FA8"/>
                </a:solidFill>
                <a:latin typeface="Arial"/>
                <a:ea typeface="Arial"/>
                <a:cs typeface="Arial"/>
              </a:rPr>
              <a:t>WED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6CE7B-C6D5-4A32-A8FE-F44FBB39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3365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Product walkthrough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7CC5B-ACC8-4E24-BC01-FC87EFBD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90900"/>
            <a:ext cx="2038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A 30–45 second screen recording of one workflow.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1D46D5-D09B-4176-BD19-6FF311D4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38650"/>
            <a:ext cx="14287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668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02165-C127-404F-B645-5337D599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243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TRY THE TOOL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84ABCB-D2B4-4A9E-841F-10472178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476500" cy="314325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8DA9A-2D58-4472-B4B0-4C2F1FCE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5118F1-DB88-4348-A589-3574F2F3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FRI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822FA-5B10-414B-B005-60F6BF35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3365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Real outreach example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711A03-1F1E-4F49-8CF8-3F9B15E9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2038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Improve an email, profile field, follow-up, or update.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27698C-B640-4135-A578-1A570080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38650"/>
            <a:ext cx="14287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66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39C574-7413-46DC-B0B4-0861C6CB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243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YOURS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517807-A174-4F8E-A009-29F456B2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476500" cy="314325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2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6C3F36-AD18-4DD2-82EC-E3382FB5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58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632CE2-FAC2-43FB-8393-6AD42798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14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0584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5848"/>
                </a:solidFill>
                <a:latin typeface="Arial"/>
                <a:ea typeface="Arial"/>
                <a:cs typeface="Arial"/>
              </a:rPr>
              <a:t>MONTHLY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8B4B93-5358-4117-BBCD-670920BB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3365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Team toolkit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DBA58F-89B3-4260-BD58-C0F7EE97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90900"/>
            <a:ext cx="2038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350" b="0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36E"/>
                </a:solidFill>
                <a:latin typeface="Arial"/>
                <a:ea typeface="Arial"/>
                <a:cs typeface="Arial"/>
              </a:rPr>
              <a:t>A coach-ready guide that can be shared with a full roster.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5FE280-DFD2-41D8-88ED-67E0DB16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38650"/>
            <a:ext cx="14287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058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90D246-46B6-4F27-A1EB-75EFBD56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243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BRING A TEAM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2C459E-8344-4D17-B4D0-F39AC51B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CHANNEL ROLES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50284F-A867-4897-ABC3-20EB5344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Instagram: primary home for carousels, Reels, Stories, and athlete reposts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2DD516-FB1B-46C3-9E69-9DA1C289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95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2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TikTok: short recruiting explanations and product demos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2EE915-22EE-4250-BBB3-6CC10704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DFB38B-6FB5-4837-9EDD-956C8876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VOLLEYREACH BRAND AND MEDIA KIT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4C467F-32F8-437C-99E8-AD182CFC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239281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6EE625-D9AD-4727-BED5-64B291E8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Social media growth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FF34C-FB05-4082-AB36-7DC7A7BD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>
                    <a:alpha val="72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>
                    <a:alpha val="72000"/>
                  </a:srgbClr>
                </a:solidFill>
                <a:latin typeface="Arial"/>
                <a:ea typeface="Arial"/>
                <a:cs typeface="Arial"/>
              </a:rPr>
              <a:t>Build proof through a small community pilot before chasing follower count.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46066-1E31-424B-B665-1C2CD0D3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3C3A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3C3AF"/>
                </a:solidFill>
                <a:latin typeface="Arial"/>
                <a:ea typeface="Arial"/>
                <a:cs typeface="Arial"/>
              </a:rPr>
              <a:t>COMMUNITY GROWTH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769CF-08B3-460C-B8D1-EC1E6A85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7625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058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D059A-D8A6-47C4-B651-891C2824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F3965-6AAB-443D-8978-C927DC2F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5ECD7-3822-4FB5-A031-014ED2AC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145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FFFFFF">
                    <a:alpha val="7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>
                    <a:alpha val="70000"/>
                  </a:srgbClr>
                </a:solidFill>
                <a:latin typeface="Arial"/>
                <a:ea typeface="Arial"/>
                <a:cs typeface="Arial"/>
              </a:rPr>
              <a:t>Start with 2–3 local school or club teams.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1EBD8-AEBF-4493-A70E-BB17D332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47625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058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836F-A6D5-4ECC-B258-325FDB48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CA3F1-CFD3-4EB8-931D-51E3EE84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384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BCDEE-17A6-4535-8248-05D5A73F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575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FFFFFF">
                    <a:alpha val="7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>
                    <a:alpha val="70000"/>
                  </a:srgbClr>
                </a:solidFill>
                <a:latin typeface="Arial"/>
                <a:ea typeface="Arial"/>
                <a:cs typeface="Arial"/>
              </a:rPr>
              <a:t>Help athletes complete profiles in one short session.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12026-FAF2-4605-8B9A-93B239D5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47625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058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763BF3-C748-41B8-ADB6-3E580635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2231C-907D-42EB-A822-2B298043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814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2187B-C805-4D43-8B3A-9B998631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004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FFFFFF">
                    <a:alpha val="7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>
                    <a:alpha val="70000"/>
                  </a:srgbClr>
                </a:solidFill>
                <a:latin typeface="Arial"/>
                <a:ea typeface="Arial"/>
                <a:cs typeface="Arial"/>
              </a:rPr>
              <a:t>Track school saves, completed profiles, and outreach.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A24395-9E94-40DC-8A2B-546B4DC5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47625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6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150638-7660-4BD2-B174-F4312151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FE27D-DA28-47F5-B386-72940CB3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243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B44EB-B987-4221-9C8D-8038E2D4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434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FFFFFF">
                    <a:alpha val="7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>
                    <a:alpha val="70000"/>
                  </a:srgbClr>
                </a:solidFill>
                <a:latin typeface="Arial"/>
                <a:ea typeface="Arial"/>
                <a:cs typeface="Arial"/>
              </a:rPr>
              <a:t>Turn permissioned results into useful proof.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8E78D3-88A8-4E1B-847E-DAC89CE8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476250" cy="476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058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2B2802-8D45-4262-92E2-226CD429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12FA3C-2487-46A9-B60F-2C50FBD1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673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E67329-AE72-4697-82F3-E8225768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863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>
                <a:solidFill>
                  <a:srgbClr val="FFFFFF">
                    <a:alpha val="7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>
                    <a:alpha val="70000"/>
                  </a:srgbClr>
                </a:solidFill>
                <a:latin typeface="Arial"/>
                <a:ea typeface="Arial"/>
                <a:cs typeface="Arial"/>
              </a:rPr>
              <a:t>Ask each coach or athlete to invite one more user.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F01FBC-85A1-4A31-A031-01DBB1AC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57350"/>
            <a:ext cx="4857750" cy="4343400"/>
          </a:xfrm>
          <a:prstGeom xmlns:a="http://schemas.openxmlformats.org/drawingml/2006/main" prst="roundRect">
            <a:avLst>
              <a:gd name="adj" fmla="val 1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B93CA3-AF76-49E5-92DA-B135B4B0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30-DAY PILOT TARGETS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93514A-F2F6-45DC-830A-54EDE161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0030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2372E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72E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12C910-BA8A-4E5F-942B-B29AEF96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athletes onboarded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7D320A-A48B-4336-98EB-5E420DA1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0030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2372E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72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D6C290-448B-43E8-9AEA-A8549004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7650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completed profiles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ABEF70-6503-461A-B2C5-07FFC596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1470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2372E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72E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E611CE-6115-436C-9797-3D8AD9D5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9090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programs saved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B826C5-D2BB-461D-8079-1A4D5E88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1470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E66449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E66449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26717F-790D-48BD-95F2-FF410874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9090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emails drafted or sent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74D5E0-B78E-4EA6-ABD2-987E1AD3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2910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2372E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2372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3ED676-0C79-45E1-8DCA-3C63F085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20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1D"/>
                </a:solidFill>
                <a:latin typeface="Arial"/>
                <a:ea typeface="Arial"/>
                <a:cs typeface="Arial"/>
              </a:rPr>
              <a:t>team or coach partners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57C496-2D1B-4C85-97F5-C689918F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43500"/>
            <a:ext cx="424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372C72-CF3E-4C06-BDE5-5AF94470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05425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6873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8736E"/>
                </a:solidFill>
                <a:latin typeface="Arial"/>
                <a:ea typeface="Arial"/>
                <a:cs typeface="Arial"/>
              </a:rPr>
              <a:t>Review weekly: saves and shares → profile visits → signups → completed profiles → outreach actions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F1B0E4-9883-4F09-983B-49C6B329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707013-C080-4646-97A2-CE841A1E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rPr>
              <a:t>VOLLEYREACH BRAND AND MEDIA KIT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0ED8F8-DDDB-429B-BDD9-445BD47D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788344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2026-09-12T16:58:16.3780000Z</dcterms:created>
  <dcterms:modified xsi:type="dcterms:W3CDTF">2026-09-12T16:58:16.3780000Z</dcterms:modified>
</coreProperties>
</file>