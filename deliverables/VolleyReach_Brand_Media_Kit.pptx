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485c3b63d3475d" /><Relationship Type="http://schemas.openxmlformats.org/officeDocument/2006/relationships/extended-properties" Target="/docProps/app.xml" Id="R9166ff910a654ea0" /><Relationship Type="http://schemas.openxmlformats.org/officeDocument/2006/relationships/officeDocument" Target="/ppt/presentation.xml" Id="R25039e215a4e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c63ec42794f17"/>
  </p:sldMasterIdLst>
  <p:notesMasterIdLst>
    <p:notesMasterId xmlns:r="http://schemas.openxmlformats.org/officeDocument/2006/relationships" r:id="Rab2d8d624bce4b46"/>
  </p:notesMasterIdLst>
  <p:sldIdLst>
    <p:sldId xmlns:r="http://schemas.openxmlformats.org/officeDocument/2006/relationships" id="256" r:id="Ra38d98e2840e4e5f"/>
    <p:sldId xmlns:r="http://schemas.openxmlformats.org/officeDocument/2006/relationships" id="257" r:id="R08eb8aa14a404909"/>
    <p:sldId xmlns:r="http://schemas.openxmlformats.org/officeDocument/2006/relationships" id="258" r:id="Rc59b6e43584b4548"/>
    <p:sldId xmlns:r="http://schemas.openxmlformats.org/officeDocument/2006/relationships" id="259" r:id="R7c147fe9a2014994"/>
    <p:sldId xmlns:r="http://schemas.openxmlformats.org/officeDocument/2006/relationships" id="260" r:id="R30de8612accc484c"/>
    <p:sldId xmlns:r="http://schemas.openxmlformats.org/officeDocument/2006/relationships" id="261" r:id="Rf9f2c3bbda2048b0"/>
    <p:sldId xmlns:r="http://schemas.openxmlformats.org/officeDocument/2006/relationships" id="262" r:id="R87d8ccfb3250491c"/>
    <p:sldId xmlns:r="http://schemas.openxmlformats.org/officeDocument/2006/relationships" id="263" r:id="Re9f3e6bfa6c646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5f01151df64eec" /><Relationship Type="http://schemas.openxmlformats.org/officeDocument/2006/relationships/slideMaster" Target="/ppt/slideMasters/slideMaster1.xml" Id="Rfa9c63ec42794f17" /><Relationship Type="http://schemas.openxmlformats.org/officeDocument/2006/relationships/notesMaster" Target="/ppt/notesMasters/notesMaster1.xml" Id="Rab2d8d624bce4b46" /><Relationship Type="http://schemas.openxmlformats.org/officeDocument/2006/relationships/presProps" Target="/ppt/presProps.xml" Id="R6499b5586937477a" /><Relationship Type="http://schemas.openxmlformats.org/officeDocument/2006/relationships/tableStyles" Target="/ppt/tableStyles.xml" Id="R8c8a2bf42df449f5" /><Relationship Type="http://schemas.openxmlformats.org/officeDocument/2006/relationships/slide" Target="/ppt/slides/slide1.xml" Id="Ra38d98e2840e4e5f" /><Relationship Type="http://schemas.openxmlformats.org/officeDocument/2006/relationships/slide" Target="/ppt/slides/slide2.xml" Id="R08eb8aa14a404909" /><Relationship Type="http://schemas.openxmlformats.org/officeDocument/2006/relationships/slide" Target="/ppt/slides/slide3.xml" Id="Rc59b6e43584b4548" /><Relationship Type="http://schemas.openxmlformats.org/officeDocument/2006/relationships/slide" Target="/ppt/slides/slide4.xml" Id="R7c147fe9a2014994" /><Relationship Type="http://schemas.openxmlformats.org/officeDocument/2006/relationships/slide" Target="/ppt/slides/slide5.xml" Id="R30de8612accc484c" /><Relationship Type="http://schemas.openxmlformats.org/officeDocument/2006/relationships/slide" Target="/ppt/slides/slide6.xml" Id="Rf9f2c3bbda2048b0" /><Relationship Type="http://schemas.openxmlformats.org/officeDocument/2006/relationships/slide" Target="/ppt/slides/slide7.xml" Id="R87d8ccfb3250491c" /><Relationship Type="http://schemas.openxmlformats.org/officeDocument/2006/relationships/slide" Target="/ppt/slides/slide8.xml" Id="Re9f3e6bfa6c646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e8dbc6799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740c0885264e39" /><Relationship Type="http://schemas.openxmlformats.org/officeDocument/2006/relationships/notesMaster" Target="/ppt/notesMasters/notesMaster1.xml" Id="R59d89f936eae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268010bce4459" /><Relationship Type="http://schemas.openxmlformats.org/officeDocument/2006/relationships/notesMaster" Target="/ppt/notesMasters/notesMaster1.xml" Id="R030227154bff43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eb5f170ee4358" /><Relationship Type="http://schemas.openxmlformats.org/officeDocument/2006/relationships/notesMaster" Target="/ppt/notesMasters/notesMaster1.xml" Id="R52c6a39ae613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5b258baa84ba1" /><Relationship Type="http://schemas.openxmlformats.org/officeDocument/2006/relationships/notesMaster" Target="/ppt/notesMasters/notesMaster1.xml" Id="Rdfa617df4ec1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9f29384754899" /><Relationship Type="http://schemas.openxmlformats.org/officeDocument/2006/relationships/notesMaster" Target="/ppt/notesMasters/notesMaster1.xml" Id="Rd0e3586b2bbb45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7cd3da39244e1d" /><Relationship Type="http://schemas.openxmlformats.org/officeDocument/2006/relationships/notesMaster" Target="/ppt/notesMasters/notesMaster1.xml" Id="R7b5fe2172dd24c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6f9c81bae74b66" /><Relationship Type="http://schemas.openxmlformats.org/officeDocument/2006/relationships/notesMaster" Target="/ppt/notesMasters/notesMaster1.xml" Id="R957693af684241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56a87b217945b0" /><Relationship Type="http://schemas.openxmlformats.org/officeDocument/2006/relationships/notesMaster" Target="/ppt/notesMasters/notesMaster1.xml" Id="Rc57f5b9ab943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Background image created for this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Directory figures reflect the August 29, 2026 data import.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Logo shown from the current product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Hex values come from the current product CSS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Typography names and layout values come from the current product 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Photography was created specifically for the VolleyReach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The sample post demonstrates the approved voice and visual system. Arthur can use these pillars for the marketing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cbab018d4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8086a62ab470d" /><Relationship Type="http://schemas.openxmlformats.org/officeDocument/2006/relationships/slideLayout" Target="/ppt/slideLayouts/slideLayout1.xml" Id="R1081f40f8e1947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81f40f8e1947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55f25a3c64542" /><Relationship Type="http://schemas.openxmlformats.org/officeDocument/2006/relationships/image" Target="/ppt/media/image.jpeg" Id="R2c0dbb22c2184b67" /><Relationship Type="http://schemas.openxmlformats.org/officeDocument/2006/relationships/notesSlide" Target="/ppt/notesSlides/notesSlide1.xml" Id="R9e0bd11446fd43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d46ade2f405e" /><Relationship Type="http://schemas.openxmlformats.org/officeDocument/2006/relationships/image" Target="/ppt/media/image2.jpeg" Id="Rfbd37e0acd7e4870" /><Relationship Type="http://schemas.openxmlformats.org/officeDocument/2006/relationships/notesSlide" Target="/ppt/notesSlides/notesSlide2.xml" Id="Rd50df69597f6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0ba5b0ccd4469" /><Relationship Type="http://schemas.openxmlformats.org/officeDocument/2006/relationships/image" Target="/ppt/media/image3.jpeg" Id="R339b588d262943b3" /><Relationship Type="http://schemas.openxmlformats.org/officeDocument/2006/relationships/notesSlide" Target="/ppt/notesSlides/notesSlide3.xml" Id="R0b695c4fc84d49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5c6e5676c4087" /><Relationship Type="http://schemas.openxmlformats.org/officeDocument/2006/relationships/image" Target="/ppt/media/image4.jpeg" Id="Rbcd148c7135d42be" /><Relationship Type="http://schemas.openxmlformats.org/officeDocument/2006/relationships/notesSlide" Target="/ppt/notesSlides/notesSlide4.xml" Id="R1c22f2b2a7ad48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b1ec8cd6e420c" /><Relationship Type="http://schemas.openxmlformats.org/officeDocument/2006/relationships/notesSlide" Target="/ppt/notesSlides/notesSlide5.xml" Id="R7c13b5cd1d0b42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d6ce99d5d4e80" /><Relationship Type="http://schemas.openxmlformats.org/officeDocument/2006/relationships/image" Target="/ppt/media/image5.jpeg" Id="Ra7d30aee500040d9" /><Relationship Type="http://schemas.openxmlformats.org/officeDocument/2006/relationships/notesSlide" Target="/ppt/notesSlides/notesSlide6.xml" Id="Ra8fe4ce8223d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1db90ebb42cc" /><Relationship Type="http://schemas.openxmlformats.org/officeDocument/2006/relationships/image" Target="/ppt/media/image6.jpeg" Id="Rbef7e89773724274" /><Relationship Type="http://schemas.openxmlformats.org/officeDocument/2006/relationships/notesSlide" Target="/ppt/notesSlides/notesSlide7.xml" Id="R7ce04e4238cb49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17d95a14c402c" /><Relationship Type="http://schemas.openxmlformats.org/officeDocument/2006/relationships/image" Target="/ppt/media/image7.jpeg" Id="R52062a93cc3d4019" /><Relationship Type="http://schemas.openxmlformats.org/officeDocument/2006/relationships/notesSlide" Target="/ppt/notesSlides/notesSlide8.xml" Id="Rd2e456442c8e42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dbb22c2184b6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78A87-1E6A-4382-840E-789B0B43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5">
              <a:alpha val="7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3FB05-5B93-45E5-A0BE-D211877C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9D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D8CA"/>
                </a:solidFill>
                <a:latin typeface="Arial"/>
                <a:ea typeface="Arial"/>
                <a:cs typeface="Arial"/>
              </a:rPr>
              <a:t>BRAND AND MEDIA 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65202-0DEB-48B5-B791-373D35C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781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0D579-EE2B-41B1-9676-D167334A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VolleyReach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21D5A-6042-4946-B649-3CF37933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>
                    <a:alpha val="88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>
                    <a:alpha val="88000"/>
                  </a:srgbClr>
                </a:solidFill>
                <a:latin typeface="Arial"/>
                <a:ea typeface="Arial"/>
                <a:cs typeface="Arial"/>
              </a:rPr>
              <a:t>A recruiting workspace for boys volleyball athletes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0249C-6A05-4BED-AF64-AA1B36C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>
                    <a:alpha val="66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>
                    <a:alpha val="66000"/>
                  </a:srgbClr>
                </a:solidFill>
                <a:latin typeface="Arial"/>
                <a:ea typeface="Arial"/>
                <a:cs typeface="Arial"/>
              </a:rPr>
              <a:t>Raphael Ferrand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9424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FBB98-37C6-4648-AC17-00134DBF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Brand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2D491-DE9E-45E8-B309-0196B6DB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EC308-C6F2-466F-8696-5B453D81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9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VolleyReach helps boys volleyball athletes organize the recruiting work that paid services often handle.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764EB-0F1B-498E-9C53-A669E48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The product serves high school players first. School and club coaches can use the same workflow to help athletes prepare complete, credible outreach.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37e0acd7e4870"/>
          <a:srcRect xmlns:a="http://schemas.openxmlformats.org/drawingml/2006/main" l="0" t="1312" r="0" b="1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066800"/>
            <a:ext cx="558165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67C76-4C4D-4A33-86D4-AA30612F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D3FFC-4313-4C9D-B9A7-B9B2DDE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men's programs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12195-B195-41DC-8936-E6EC8CE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722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4893F-0E10-4C12-A5F2-FC93218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24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grouped coach contacts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81EDA-98BB-4489-8D80-98898FD7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460A6-868D-436C-B7D7-5DC56389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529CB-CABC-40A9-A595-2CD975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3856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ADB30-59AC-497B-A8BF-BB047C1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b588d262943b3"/>
          <a:srcRect xmlns:a="http://schemas.openxmlformats.org/drawingml/2006/main" l="0" t="1336" r="0" b="13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00150"/>
            <a:ext cx="6667500" cy="3752850"/>
          </a:xfrm>
          <a:prstGeom xmlns:a="http://schemas.openxmlformats.org/drawingml/2006/main" prst="roundRect">
            <a:avLst>
              <a:gd name="adj" fmla="val 152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AE08B-5804-4B1F-A26E-1152E02A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81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8D615-8137-4CF6-BF6D-DD6C707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525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Complete the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9C39A-9A5F-4AC3-809F-68196ACA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Academic, athletic, film, and contact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FCF56-DDE6-4A46-8A27-53978D68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CF36C-3297-40A7-BB6D-5CB968A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907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Find programs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A4CD0-741D-43A6-85B3-3D50ABA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Division, region, contact availability, and list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96167-8E80-44AD-B8A7-C92DEDE9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E1A3E-2E18-4641-A28B-85C76C4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289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Research the school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BBAF8-D6B7-46C2-B17B-548A379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 real reason for contacting that program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D9757-DFD2-497C-B604-59091DB3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9A1E7-0012-44AA-A27C-C74C8AD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Build the 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C9602-82DF-4F6B-8BDC-5DF0692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Profile facts become a personal coach 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8697A-7616-421A-A128-6A392B4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23AFC-A354-4B13-8435-B74A0371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Track follow 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49220-21A6-41A8-A2E9-91CB996A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Sent dates, replies, status, and next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4660A-A50F-4A32-A589-964A814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Recruiting support stays organized without claiming roster openings, admissions odds, or guaranteed outcomes.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96556-C1C6-4B26-B893-1B422C2F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4BB13-38AD-4E5C-80AB-05471551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1D335-8CDC-494D-95F3-EF54804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7765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0C546-C5F5-4D96-9939-E98FD895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Logo system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148c7135d42be"/>
          <a:stretch xmlns:a="http://schemas.openxmlformats.org/drawingml/2006/main"/>
        </p:blipFill>
        <p:spPr>
          <a:xfrm xmlns:a="http://schemas.openxmlformats.org/drawingml/2006/main">
            <a:off x="666750" y="1352550"/>
            <a:ext cx="3067050" cy="933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81D07-B1CE-459E-8CDC-6989EF8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>
                <a:solidFill>
                  <a:srgbClr val="FFFFFF">
                    <a:alpha val="8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>
                    <a:alpha val="82000"/>
                  </a:srgbClr>
                </a:solidFill>
                <a:latin typeface="Arial"/>
                <a:ea typeface="Arial"/>
                <a:cs typeface="Arial"/>
              </a:rPr>
              <a:t>The name connects volleyball with the two actions the product supports: reaching the right programs and reaching coaches with complete information.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06F73-E79F-44DC-B53C-DB11C21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9540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726AD-A985-4046-B506-307EEE97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81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PRIMARY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DE9D9-2CFD-4156-99D5-3137C78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the full lockup on covers, navigation, school materials, and social profiles.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AFE59-1925-4EF5-8FF8-9AF317C5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SPACING AND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10C5B-8177-4635-8ED1-568E67C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3372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Leave at least one icon width around the mark. Keep the icon at 34 px or larger and the full lockup at 140 px or larger for digital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E0DED-2ECC-410F-B2EC-C39EF29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ADCBC-CB90-4A70-B746-3E9C2845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482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stretch the logo, recolor the ball separately, add effects, or place it over a busy image without strong contrast.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52FCE-7F78-4355-A0DC-D59EB69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0F46-D1C6-41BB-8862-2E89176B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53BBD-0E4D-4AE5-AD92-5D838D4D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8793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E281A-CF2E-42F6-9F16-E02B756C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Color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6E55E-92E3-438E-8E5F-CC695B4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Forest anchors the product. Coral marks action. Blue supports guidance and measurement. Warm paper keeps dense recruiting work readable.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74876-29EC-4B1C-A6E3-4966DB3F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3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B4F4-473A-491C-AC94-C66E98B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25B45-5E03-420E-A327-4EEA6FD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#12372E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6CBB9-7113-4DC1-8406-A45D6A69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Navigation and primary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E0565-23A7-4AE9-A71A-1A99C31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6321-6109-4FB6-B7C7-62C262D7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AE13B-3068-4100-8413-47541477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#E66449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ACA10-C06F-49B5-B18A-3D27CD7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Emphasis and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610A9-62C0-41A9-BBF7-D7CB0795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668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376A9-8D45-4D75-B894-832B8176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Mist blue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B68BA-FB22-4B3C-B5AC-ED940D4E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#668FA8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6B298-02D0-4D7C-806C-6D2B3BAE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Guidance and measurements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CDA9D-B89B-4EAF-B82B-C8457839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CE2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31BC2-B17B-4ED3-8957-B76C506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Warm paper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CCD5F-5A0F-4F07-8166-EBC5534B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#F4F5F1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2669F-F954-461C-9B45-3DC494C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Main application background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63591-0E89-444F-9677-5BA6C39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F2FBB-17E8-4207-B2F8-3E04E33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1899B-FA09-49FA-8739-D505118E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#17201D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0F313-B989-4CB5-BD8D-B528018C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Headings and body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0EAAB-72D4-4F9F-A394-105B69C3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Keep white and warm paper dominant. Avoid gradients, neon yellow and black combinations, and one-color screens.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86437-DD61-4CD0-BA68-E7D55817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7CD6A-2619-4BD8-B9CA-BA0080E3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7532C8-A6F0-4951-A76A-F242DF5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774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3EF00-308D-4274-88C7-5E47BBD0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Typography and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50666-EB33-4764-99BA-7E2069EC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PRIMARY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ABEA1-53CE-423C-92F7-3DBF383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Instrument Sans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CC5DC-0B05-4772-B2DF-2B10E139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Headings use 600 to 700 weight. Body copy uses 400 to 500. Arial is the fallback.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1E398-81CB-42D7-809E-E8BA4E7A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F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FA8"/>
                </a:solidFill>
                <a:latin typeface="Arial"/>
                <a:ea typeface="Arial"/>
                <a:cs typeface="Arial"/>
              </a:rPr>
              <a:t>UTILITY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4E98-4347-4AB3-920F-1B163115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DM Mono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6D2BD-B784-474C-9BD0-3BA55A4C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Small labels, dates, percentages, and status values. System monospace is the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6C8A0-4ADA-4836-8C72-EF48DA43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Letter spacing stays at 0. Tool screens use compact headings and stable dimensions so controls do not shift.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30aee500040d9"/>
          <a:srcRect xmlns:a="http://schemas.openxmlformats.org/drawingml/2006/main" l="0" t="5698" r="0" b="5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238250"/>
            <a:ext cx="5695950" cy="32004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A6825-C2B2-467D-B5D4-E490898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23198-F10D-4A11-8F40-D576173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29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236 px desktop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B2E8A-D294-4393-B3CA-CB21D01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577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9159-D31D-4714-B5EA-8C9BF028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29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34 px page padding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4FF18-E743-48FB-8D36-C714BDFF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81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B1E48-F70A-49D8-965C-833E821A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5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5 to 7 px control corners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B6808-6164-43FC-9BB1-2EF2CB6C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81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DFF15-A942-483D-AD88-53DC83DC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35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Responsive mobile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EDCCD-DB4D-449A-AAE7-041E927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DBAB4-958E-48CA-8F3F-1BA1E7A3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A9F15-3C1B-40B4-A903-63B5200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1864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5EE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157EA-81C6-4A22-A14C-C827648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Photography and interface style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7e89773724274"/>
          <a:srcRect xmlns:a="http://schemas.openxmlformats.org/drawingml/2006/main" l="9426" t="0" r="9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57300"/>
            <a:ext cx="5905500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58A29-2B4F-4A92-B9B1-BC053A78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3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PHOTOGRAPHY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38B80-C162-4AE6-97CF-24ABC439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Show real volleyball settings with the athlete, court, and net easy to understand. Use natural gym color and practical camera angles.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C9396-B3B9-496F-80DF-789AD34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F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FA8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21903-5E94-43AC-BB51-08ADC34A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Keep the workspace quiet and useful: stable left navigation, familiar icons, short motion, restrained borders, and clear next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5C139-0C77-4815-A41D-BFD9AF8E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DD39D-6C57-4AA5-8C56-6B318FC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Generic AI athletes, black and yellow esports styling, heavy gradients, decorative blobs, and images that hide the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9BB7D-C699-4A0A-AAB5-3564EA32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37318-7F12-4A97-A6DA-D261E836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F6E49-5796-4682-8CFD-2357485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2498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D4192-D86F-42BA-BD1E-31F71C52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and media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88DA7-9637-448B-AB71-6F86248C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A992F-4BA1-48C5-A718-278A616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0156-225B-41D5-A4A8-3C2B9EFB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Say what the athlete should do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5DDAE-F462-404C-A1C0-BE4BC413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5CDDB-CEE9-4DF9-87B1-4F27C32D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Use volleyball and recruiting facts, not generic motivation.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8F5FE-01FE-4B60-B9DA-3E8934E2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Honest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12B08-DCAA-4673-BAD6-C63014C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Label estimates and never promise admission or recruitment.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7BC47-1957-4189-8818-4545D9DE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CONTENT PILLARS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97DA8-7907-486B-9753-6E7629F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Recruiting education  •  Product workflows  •  Volleyball measurements  •  Pilot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29E2C-DE1C-4E27-B572-001776E9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90600"/>
            <a:ext cx="3714750" cy="4762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62a93cc3d4019"/>
          <a:srcRect xmlns:a="http://schemas.openxmlformats.org/drawingml/2006/main" l="0" t="15915" r="0" b="15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162050"/>
            <a:ext cx="3371850" cy="238125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8B080-ADC9-4858-85F5-39EDCA1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RECRUITING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8F93A-6EC0-4514-840E-F21613C6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Use a straight-on net clip to estimate reach, then verify the result before sharing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36E46-1462-4F03-BA4F-F91ECC93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7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@VolleyReach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0181B-2D3E-4668-9EB9-9F7DE872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BB7DD-408E-4770-835A-72B17B82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3AA81-5C6A-4649-9AC9-4FCF30A1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4478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2026-09-12T16:25:14.7430000Z</dcterms:created>
  <dcterms:modified xsi:type="dcterms:W3CDTF">2026-09-12T16:25:14.7430000Z</dcterms:modified>
</coreProperties>
</file>